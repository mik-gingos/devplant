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vPlant architecture" id="{4d546a3a-42e5-c8f7-af71-4c415fdb0f4c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DevPlant architecture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ircle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Log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674370"/>
            <a:ext cx="342900" cy="34290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APP ARCHITECTURE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7373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DevPlant</a:t>
            </a:r>
            <a:endParaRPr lang="en-US" sz="54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26974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Smartphone-based pest &amp; crop disease early detection. Same four modules as crystal_io, retuned for plants.</a:t>
            </a:r>
            <a:endParaRPr lang="en-US" sz="1800" dirty="0"/>
          </a:p>
        </p:txBody>
      </p:sp>
      <p:sp>
        <p:nvSpPr>
          <p:cNvPr id="7" name="Stat modules"/>
          <p:cNvSpPr txBox="1"/>
          <p:nvPr/>
        </p:nvSpPr>
        <p:spPr>
          <a:xfrm>
            <a:off x="54864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8" name="Stat label modules"/>
          <p:cNvSpPr txBox="1"/>
          <p:nvPr/>
        </p:nvSpPr>
        <p:spPr>
          <a:xfrm>
            <a:off x="54864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modules</a:t>
            </a:r>
            <a:endParaRPr lang="en-US" sz="1400" dirty="0"/>
          </a:p>
        </p:txBody>
      </p:sp>
      <p:sp>
        <p:nvSpPr>
          <p:cNvPr id="9" name="Stat screen folders"/>
          <p:cNvSpPr txBox="1"/>
          <p:nvPr/>
        </p:nvSpPr>
        <p:spPr>
          <a:xfrm>
            <a:off x="251460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0" name="Stat label screen folders"/>
          <p:cNvSpPr txBox="1"/>
          <p:nvPr/>
        </p:nvSpPr>
        <p:spPr>
          <a:xfrm>
            <a:off x="251460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screen folders</a:t>
            </a:r>
            <a:endParaRPr lang="en-US" sz="1400" dirty="0"/>
          </a:p>
        </p:txBody>
      </p:sp>
      <p:sp>
        <p:nvSpPr>
          <p:cNvPr id="11" name="Stat database tables"/>
          <p:cNvSpPr txBox="1"/>
          <p:nvPr/>
        </p:nvSpPr>
        <p:spPr>
          <a:xfrm>
            <a:off x="448056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600" dirty="0"/>
          </a:p>
        </p:txBody>
      </p:sp>
      <p:sp>
        <p:nvSpPr>
          <p:cNvPr id="12" name="Stat label database tables"/>
          <p:cNvSpPr txBox="1"/>
          <p:nvPr/>
        </p:nvSpPr>
        <p:spPr>
          <a:xfrm>
            <a:off x="448056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database tables</a:t>
            </a:r>
            <a:endParaRPr lang="en-US" sz="1400" dirty="0"/>
          </a:p>
        </p:txBody>
      </p:sp>
      <p:sp>
        <p:nvSpPr>
          <p:cNvPr id="13" name="Stat on-device model"/>
          <p:cNvSpPr txBox="1"/>
          <p:nvPr/>
        </p:nvSpPr>
        <p:spPr>
          <a:xfrm>
            <a:off x="644652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Stat label on-device model"/>
          <p:cNvSpPr txBox="1"/>
          <p:nvPr/>
        </p:nvSpPr>
        <p:spPr>
          <a:xfrm>
            <a:off x="644652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on-device model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modules</a:t>
            </a:r>
            <a:endParaRPr lang="en-US" sz="3600" dirty="0"/>
          </a:p>
        </p:txBody>
      </p:sp>
      <p:sp>
        <p:nvSpPr>
          <p:cNvPr id="3" name="mixes card"/>
          <p:cNvSpPr/>
          <p:nvPr/>
        </p:nvSpPr>
        <p:spPr>
          <a:xfrm>
            <a:off x="457200" y="1143000"/>
            <a:ext cx="1851660" cy="292608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4" name="mixes circle"/>
          <p:cNvSpPr/>
          <p:nvPr/>
        </p:nvSpPr>
        <p:spPr>
          <a:xfrm>
            <a:off x="658368" y="13441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ix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458468"/>
            <a:ext cx="228600" cy="228600"/>
          </a:xfrm>
          <a:prstGeom prst="rect">
            <a:avLst/>
          </a:prstGeom>
        </p:spPr>
      </p:pic>
      <p:sp>
        <p:nvSpPr>
          <p:cNvPr id="6" name="mixes name"/>
          <p:cNvSpPr txBox="1"/>
          <p:nvPr/>
        </p:nvSpPr>
        <p:spPr>
          <a:xfrm>
            <a:off x="658368" y="1920240"/>
            <a:ext cx="14493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mixes</a:t>
            </a:r>
            <a:endParaRPr lang="en-US" sz="1800" dirty="0"/>
          </a:p>
        </p:txBody>
      </p:sp>
      <p:sp>
        <p:nvSpPr>
          <p:cNvPr id="7" name="mixes role"/>
          <p:cNvSpPr txBox="1"/>
          <p:nvPr/>
        </p:nvSpPr>
        <p:spPr>
          <a:xfrm>
            <a:off x="658368" y="2240280"/>
            <a:ext cx="1449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screens</a:t>
            </a:r>
            <a:endParaRPr lang="en-US" sz="1300" dirty="0"/>
          </a:p>
        </p:txBody>
      </p:sp>
      <p:sp>
        <p:nvSpPr>
          <p:cNvPr id="8" name="mixes bullets"/>
          <p:cNvSpPr txBox="1"/>
          <p:nvPr/>
        </p:nvSpPr>
        <p:spPr>
          <a:xfrm>
            <a:off x="658368" y="2606040"/>
            <a:ext cx="15224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12 mm_ folders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Draws the interface and nothing else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Never imports gates</a:t>
            </a:r>
            <a:endParaRPr lang="en-US" sz="1200" dirty="0"/>
          </a:p>
        </p:txBody>
      </p:sp>
      <p:sp>
        <p:nvSpPr>
          <p:cNvPr id="9" name="contracts card"/>
          <p:cNvSpPr/>
          <p:nvPr/>
        </p:nvSpPr>
        <p:spPr>
          <a:xfrm>
            <a:off x="2583180" y="1143000"/>
            <a:ext cx="1851660" cy="292608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0" name="contracts circle"/>
          <p:cNvSpPr/>
          <p:nvPr/>
        </p:nvSpPr>
        <p:spPr>
          <a:xfrm>
            <a:off x="2784348" y="13441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ntract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458468"/>
            <a:ext cx="228600" cy="228600"/>
          </a:xfrm>
          <a:prstGeom prst="rect">
            <a:avLst/>
          </a:prstGeom>
        </p:spPr>
      </p:pic>
      <p:sp>
        <p:nvSpPr>
          <p:cNvPr id="12" name="contracts name"/>
          <p:cNvSpPr txBox="1"/>
          <p:nvPr/>
        </p:nvSpPr>
        <p:spPr>
          <a:xfrm>
            <a:off x="2784348" y="1920240"/>
            <a:ext cx="14493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contracts</a:t>
            </a:r>
            <a:endParaRPr lang="en-US" sz="1800" dirty="0"/>
          </a:p>
        </p:txBody>
      </p:sp>
      <p:sp>
        <p:nvSpPr>
          <p:cNvPr id="13" name="contracts role"/>
          <p:cNvSpPr txBox="1"/>
          <p:nvPr/>
        </p:nvSpPr>
        <p:spPr>
          <a:xfrm>
            <a:off x="2784348" y="2240280"/>
            <a:ext cx="1449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abstraction layer</a:t>
            </a:r>
            <a:endParaRPr lang="en-US" sz="1300" dirty="0"/>
          </a:p>
        </p:txBody>
      </p:sp>
      <p:sp>
        <p:nvSpPr>
          <p:cNvPr id="14" name="contracts bullets"/>
          <p:cNvSpPr txBox="1"/>
          <p:nvPr/>
        </p:nvSpPr>
        <p:spPr>
          <a:xfrm>
            <a:off x="2784348" y="2606040"/>
            <a:ext cx="15224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Interfaces and plain shapes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ScanStore, CropStore and more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Imports nothing of ours</a:t>
            </a:r>
            <a:endParaRPr lang="en-US" sz="1200" dirty="0"/>
          </a:p>
        </p:txBody>
      </p:sp>
      <p:sp>
        <p:nvSpPr>
          <p:cNvPr id="15" name="app card"/>
          <p:cNvSpPr/>
          <p:nvPr/>
        </p:nvSpPr>
        <p:spPr>
          <a:xfrm>
            <a:off x="4709160" y="1143000"/>
            <a:ext cx="1851660" cy="292608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6" name="app circle"/>
          <p:cNvSpPr/>
          <p:nvPr/>
        </p:nvSpPr>
        <p:spPr>
          <a:xfrm>
            <a:off x="4910328" y="13441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ap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28" y="1458468"/>
            <a:ext cx="228600" cy="228600"/>
          </a:xfrm>
          <a:prstGeom prst="rect">
            <a:avLst/>
          </a:prstGeom>
        </p:spPr>
      </p:pic>
      <p:sp>
        <p:nvSpPr>
          <p:cNvPr id="18" name="app name"/>
          <p:cNvSpPr txBox="1"/>
          <p:nvPr/>
        </p:nvSpPr>
        <p:spPr>
          <a:xfrm>
            <a:off x="4910328" y="1920240"/>
            <a:ext cx="14493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</a:t>
            </a:r>
            <a:endParaRPr lang="en-US" sz="1800" dirty="0"/>
          </a:p>
        </p:txBody>
      </p:sp>
      <p:sp>
        <p:nvSpPr>
          <p:cNvPr id="19" name="app role"/>
          <p:cNvSpPr txBox="1"/>
          <p:nvPr/>
        </p:nvSpPr>
        <p:spPr>
          <a:xfrm>
            <a:off x="4910328" y="2240280"/>
            <a:ext cx="1449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bridge</a:t>
            </a:r>
            <a:endParaRPr lang="en-US" sz="1300" dirty="0"/>
          </a:p>
        </p:txBody>
      </p:sp>
      <p:sp>
        <p:nvSpPr>
          <p:cNvPr id="20" name="app bullets"/>
          <p:cNvSpPr txBox="1"/>
          <p:nvPr/>
        </p:nvSpPr>
        <p:spPr>
          <a:xfrm>
            <a:off x="4910328" y="2606040"/>
            <a:ext cx="15224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app_ folders and wiring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Implements the interfaces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Picks which gate to use</a:t>
            </a:r>
            <a:endParaRPr lang="en-US" sz="1200" dirty="0"/>
          </a:p>
        </p:txBody>
      </p:sp>
      <p:sp>
        <p:nvSpPr>
          <p:cNvPr id="21" name="gates card"/>
          <p:cNvSpPr/>
          <p:nvPr/>
        </p:nvSpPr>
        <p:spPr>
          <a:xfrm>
            <a:off x="6835140" y="1143000"/>
            <a:ext cx="1851660" cy="292608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2" name="gates circle"/>
          <p:cNvSpPr/>
          <p:nvPr/>
        </p:nvSpPr>
        <p:spPr>
          <a:xfrm>
            <a:off x="7036308" y="13441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gate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1458468"/>
            <a:ext cx="228600" cy="228600"/>
          </a:xfrm>
          <a:prstGeom prst="rect">
            <a:avLst/>
          </a:prstGeom>
        </p:spPr>
      </p:pic>
      <p:sp>
        <p:nvSpPr>
          <p:cNvPr id="24" name="gates name"/>
          <p:cNvSpPr txBox="1"/>
          <p:nvPr/>
        </p:nvSpPr>
        <p:spPr>
          <a:xfrm>
            <a:off x="7036308" y="1920240"/>
            <a:ext cx="14493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gates</a:t>
            </a:r>
            <a:endParaRPr lang="en-US" sz="1800" dirty="0"/>
          </a:p>
        </p:txBody>
      </p:sp>
      <p:sp>
        <p:nvSpPr>
          <p:cNvPr id="25" name="gates role"/>
          <p:cNvSpPr txBox="1"/>
          <p:nvPr/>
        </p:nvSpPr>
        <p:spPr>
          <a:xfrm>
            <a:off x="7036308" y="2240280"/>
            <a:ext cx="1449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tools</a:t>
            </a:r>
            <a:endParaRPr lang="en-US" sz="1300" dirty="0"/>
          </a:p>
        </p:txBody>
      </p:sp>
      <p:sp>
        <p:nvSpPr>
          <p:cNvPr id="26" name="gates bullets"/>
          <p:cNvSpPr txBox="1"/>
          <p:nvPr/>
        </p:nvSpPr>
        <p:spPr>
          <a:xfrm>
            <a:off x="7036308" y="2606040"/>
            <a:ext cx="15224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Database, leaf photos, AI model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Runs fully offline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Imports nothing of ours</a:t>
            </a:r>
            <a:endParaRPr lang="en-US" sz="1200" dirty="0"/>
          </a:p>
        </p:txBody>
      </p:sp>
      <p:sp>
        <p:nvSpPr>
          <p:cNvPr id="27" name="arrow 0"/>
          <p:cNvSpPr/>
          <p:nvPr/>
        </p:nvSpPr>
        <p:spPr>
          <a:xfrm>
            <a:off x="2354580" y="2606040"/>
            <a:ext cx="182880" cy="0"/>
          </a:xfrm>
          <a:prstGeom prst="line">
            <a:avLst/>
          </a:prstGeom>
          <a:noFill/>
          <a:ln w="19050">
            <a:solidFill>
              <a:srgbClr val="D6CFC6"/>
            </a:solidFill>
            <a:prstDash val="solid"/>
            <a:tailEnd type="triangle"/>
          </a:ln>
        </p:spPr>
      </p:sp>
      <p:sp>
        <p:nvSpPr>
          <p:cNvPr id="28" name="arrow 1"/>
          <p:cNvSpPr/>
          <p:nvPr/>
        </p:nvSpPr>
        <p:spPr>
          <a:xfrm>
            <a:off x="4480560" y="2606040"/>
            <a:ext cx="182880" cy="0"/>
          </a:xfrm>
          <a:prstGeom prst="line">
            <a:avLst/>
          </a:prstGeom>
          <a:noFill/>
          <a:ln w="19050">
            <a:solidFill>
              <a:srgbClr val="D6CFC6"/>
            </a:solidFill>
            <a:prstDash val="solid"/>
            <a:headEnd type="triangle"/>
          </a:ln>
        </p:spPr>
      </p:sp>
      <p:sp>
        <p:nvSpPr>
          <p:cNvPr id="29" name="arrow 2"/>
          <p:cNvSpPr/>
          <p:nvPr/>
        </p:nvSpPr>
        <p:spPr>
          <a:xfrm>
            <a:off x="6606540" y="2606040"/>
            <a:ext cx="182880" cy="0"/>
          </a:xfrm>
          <a:prstGeom prst="line">
            <a:avLst/>
          </a:prstGeom>
          <a:noFill/>
          <a:ln w="19050">
            <a:solidFill>
              <a:srgbClr val="D6CFC6"/>
            </a:solidFill>
            <a:prstDash val="solid"/>
            <a:tailEnd type="triangle"/>
          </a:ln>
        </p:spPr>
      </p:sp>
      <p:sp>
        <p:nvSpPr>
          <p:cNvPr id="30" name="Rules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mixes never touches gates   ·   gates and contracts import nothing of ours   ·   app is the only place that knows both sides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tree: folders inside each module</a:t>
            </a:r>
            <a:endParaRPr lang="en-US" sz="3600" dirty="0"/>
          </a:p>
        </p:txBody>
      </p:sp>
      <p:sp>
        <p:nvSpPr>
          <p:cNvPr id="3" name="Root"/>
          <p:cNvSpPr/>
          <p:nvPr/>
        </p:nvSpPr>
        <p:spPr>
          <a:xfrm>
            <a:off x="3886200" y="960120"/>
            <a:ext cx="13716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Root label"/>
          <p:cNvSpPr txBox="1"/>
          <p:nvPr/>
        </p:nvSpPr>
        <p:spPr>
          <a:xfrm>
            <a:off x="3886200" y="960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DevPlant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252728"/>
            <a:ext cx="0" cy="9144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60220" y="1344168"/>
            <a:ext cx="6057900" cy="0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60220" y="1344168"/>
            <a:ext cx="0" cy="100584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69080" y="1344168"/>
            <a:ext cx="0" cy="100584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344168"/>
            <a:ext cx="0" cy="100584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1344168"/>
            <a:ext cx="0" cy="100584"/>
          </a:xfrm>
          <a:prstGeom prst="line">
            <a:avLst/>
          </a:prstGeom>
          <a:noFill/>
          <a:ln w="15875">
            <a:solidFill>
              <a:srgbClr val="D6CFC6"/>
            </a:solidFill>
            <a:prstDash val="solid"/>
          </a:ln>
        </p:spPr>
      </p:sp>
      <p:sp>
        <p:nvSpPr>
          <p:cNvPr id="11" name="mixes header"/>
          <p:cNvSpPr/>
          <p:nvPr/>
        </p:nvSpPr>
        <p:spPr>
          <a:xfrm>
            <a:off x="457200" y="1444752"/>
            <a:ext cx="2606040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/>
        </p:spPr>
      </p:sp>
      <p:sp>
        <p:nvSpPr>
          <p:cNvPr id="12" name="mixes header circle"/>
          <p:cNvSpPr/>
          <p:nvPr/>
        </p:nvSpPr>
        <p:spPr>
          <a:xfrm>
            <a:off x="521208" y="149047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mixes head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549908"/>
            <a:ext cx="118872" cy="118872"/>
          </a:xfrm>
          <a:prstGeom prst="rect">
            <a:avLst/>
          </a:prstGeom>
        </p:spPr>
      </p:pic>
      <p:sp>
        <p:nvSpPr>
          <p:cNvPr id="14" name="mixes header label"/>
          <p:cNvSpPr txBox="1"/>
          <p:nvPr/>
        </p:nvSpPr>
        <p:spPr>
          <a:xfrm>
            <a:off x="841248" y="144475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mixes  ·  the screens</a:t>
            </a:r>
            <a:endParaRPr lang="en-US" sz="1300" dirty="0"/>
          </a:p>
        </p:txBody>
      </p:sp>
      <p:sp>
        <p:nvSpPr>
          <p:cNvPr id="15" name="contracts header"/>
          <p:cNvSpPr/>
          <p:nvPr/>
        </p:nvSpPr>
        <p:spPr>
          <a:xfrm>
            <a:off x="3200400" y="1444752"/>
            <a:ext cx="1737360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/>
        </p:spPr>
      </p:sp>
      <p:sp>
        <p:nvSpPr>
          <p:cNvPr id="16" name="contracts header circle"/>
          <p:cNvSpPr/>
          <p:nvPr/>
        </p:nvSpPr>
        <p:spPr>
          <a:xfrm>
            <a:off x="3264408" y="149047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contracts heade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844" y="1549908"/>
            <a:ext cx="118872" cy="118872"/>
          </a:xfrm>
          <a:prstGeom prst="rect">
            <a:avLst/>
          </a:prstGeom>
        </p:spPr>
      </p:pic>
      <p:sp>
        <p:nvSpPr>
          <p:cNvPr id="18" name="contracts header label"/>
          <p:cNvSpPr txBox="1"/>
          <p:nvPr/>
        </p:nvSpPr>
        <p:spPr>
          <a:xfrm>
            <a:off x="3584448" y="14447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contracts</a:t>
            </a:r>
            <a:endParaRPr lang="en-US" sz="1300" dirty="0"/>
          </a:p>
        </p:txBody>
      </p:sp>
      <p:sp>
        <p:nvSpPr>
          <p:cNvPr id="19" name="app header"/>
          <p:cNvSpPr/>
          <p:nvPr/>
        </p:nvSpPr>
        <p:spPr>
          <a:xfrm>
            <a:off x="5074920" y="1444752"/>
            <a:ext cx="1737360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/>
        </p:spPr>
      </p:sp>
      <p:sp>
        <p:nvSpPr>
          <p:cNvPr id="20" name="app header circle"/>
          <p:cNvSpPr/>
          <p:nvPr/>
        </p:nvSpPr>
        <p:spPr>
          <a:xfrm>
            <a:off x="5138928" y="149047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app head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364" y="1549908"/>
            <a:ext cx="118872" cy="118872"/>
          </a:xfrm>
          <a:prstGeom prst="rect">
            <a:avLst/>
          </a:prstGeom>
        </p:spPr>
      </p:pic>
      <p:sp>
        <p:nvSpPr>
          <p:cNvPr id="22" name="app header label"/>
          <p:cNvSpPr txBox="1"/>
          <p:nvPr/>
        </p:nvSpPr>
        <p:spPr>
          <a:xfrm>
            <a:off x="5458968" y="14447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app</a:t>
            </a:r>
            <a:endParaRPr lang="en-US" sz="1300" dirty="0"/>
          </a:p>
        </p:txBody>
      </p:sp>
      <p:sp>
        <p:nvSpPr>
          <p:cNvPr id="23" name="gates header"/>
          <p:cNvSpPr/>
          <p:nvPr/>
        </p:nvSpPr>
        <p:spPr>
          <a:xfrm>
            <a:off x="6949440" y="1444752"/>
            <a:ext cx="1737360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/>
        </p:spPr>
      </p:sp>
      <p:sp>
        <p:nvSpPr>
          <p:cNvPr id="24" name="gates header circle"/>
          <p:cNvSpPr/>
          <p:nvPr/>
        </p:nvSpPr>
        <p:spPr>
          <a:xfrm>
            <a:off x="7013448" y="149047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gates heade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884" y="1549908"/>
            <a:ext cx="118872" cy="118872"/>
          </a:xfrm>
          <a:prstGeom prst="rect">
            <a:avLst/>
          </a:prstGeom>
        </p:spPr>
      </p:pic>
      <p:sp>
        <p:nvSpPr>
          <p:cNvPr id="26" name="gates header label"/>
          <p:cNvSpPr txBox="1"/>
          <p:nvPr/>
        </p:nvSpPr>
        <p:spPr>
          <a:xfrm>
            <a:off x="7333488" y="14447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gates</a:t>
            </a:r>
            <a:endParaRPr lang="en-US" sz="1300" dirty="0"/>
          </a:p>
        </p:txBody>
      </p:sp>
      <p:sp>
        <p:nvSpPr>
          <p:cNvPr id="27" name="mm_shell chip"/>
          <p:cNvSpPr/>
          <p:nvPr/>
        </p:nvSpPr>
        <p:spPr>
          <a:xfrm>
            <a:off x="457200" y="1883664"/>
            <a:ext cx="125730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8" name="mm_shell text"/>
          <p:cNvSpPr txBox="1"/>
          <p:nvPr/>
        </p:nvSpPr>
        <p:spPr>
          <a:xfrm>
            <a:off x="548640" y="1883664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mm_shell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header, pager, island</a:t>
            </a:r>
            <a:endParaRPr lang="en-US" sz="1000" dirty="0"/>
          </a:p>
        </p:txBody>
      </p:sp>
      <p:sp>
        <p:nvSpPr>
          <p:cNvPr id="29" name="mm_theme chip"/>
          <p:cNvSpPr/>
          <p:nvPr/>
        </p:nvSpPr>
        <p:spPr>
          <a:xfrm>
            <a:off x="1805940" y="1883664"/>
            <a:ext cx="125730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30" name="mm_theme text"/>
          <p:cNvSpPr txBox="1"/>
          <p:nvPr/>
        </p:nvSpPr>
        <p:spPr>
          <a:xfrm>
            <a:off x="1897380" y="1883664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mm_theme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colours, styles, logo</a:t>
            </a:r>
            <a:endParaRPr lang="en-US" sz="1000" dirty="0"/>
          </a:p>
        </p:txBody>
      </p:sp>
      <p:sp>
        <p:nvSpPr>
          <p:cNvPr id="31" name="mm_scan chip"/>
          <p:cNvSpPr/>
          <p:nvPr/>
        </p:nvSpPr>
        <p:spPr>
          <a:xfrm>
            <a:off x="457200" y="2340864"/>
            <a:ext cx="125730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32" name="mm_scan text"/>
          <p:cNvSpPr txBox="1"/>
          <p:nvPr/>
        </p:nvSpPr>
        <p:spPr>
          <a:xfrm>
            <a:off x="548640" y="2340864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mm_scan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camera, leaf framing</a:t>
            </a:r>
            <a:endParaRPr lang="en-US" sz="1000" dirty="0"/>
          </a:p>
        </p:txBody>
      </p:sp>
      <p:sp>
        <p:nvSpPr>
          <p:cNvPr id="33" name="mm_result chip"/>
          <p:cNvSpPr/>
          <p:nvPr/>
        </p:nvSpPr>
        <p:spPr>
          <a:xfrm>
            <a:off x="1805940" y="2340864"/>
            <a:ext cx="125730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34" name="mm_result text"/>
          <p:cNvSpPr txBox="1"/>
          <p:nvPr/>
        </p:nvSpPr>
        <p:spPr>
          <a:xfrm>
            <a:off x="1897380" y="2340864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mm_result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diagnosis and advice</a:t>
            </a:r>
            <a:endParaRPr lang="en-US" sz="1000" dirty="0"/>
          </a:p>
        </p:txBody>
      </p:sp>
      <p:sp>
        <p:nvSpPr>
          <p:cNvPr id="35" name="mm_library chip"/>
          <p:cNvSpPr/>
          <p:nvPr/>
        </p:nvSpPr>
        <p:spPr>
          <a:xfrm>
            <a:off x="457200" y="2798064"/>
            <a:ext cx="125730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36" name="mm_library text"/>
          <p:cNvSpPr txBox="1"/>
          <p:nvPr/>
        </p:nvSpPr>
        <p:spPr>
          <a:xfrm>
            <a:off x="548640" y="2798064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mm_library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pest &amp; disease guide</a:t>
            </a:r>
            <a:endParaRPr lang="en-US" sz="1000" dirty="0"/>
          </a:p>
        </p:txBody>
      </p:sp>
      <p:sp>
        <p:nvSpPr>
          <p:cNvPr id="37" name="mm_history chip"/>
          <p:cNvSpPr/>
          <p:nvPr/>
        </p:nvSpPr>
        <p:spPr>
          <a:xfrm>
            <a:off x="1805940" y="2798064"/>
            <a:ext cx="125730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38" name="mm_history text"/>
          <p:cNvSpPr txBox="1"/>
          <p:nvPr/>
        </p:nvSpPr>
        <p:spPr>
          <a:xfrm>
            <a:off x="1897380" y="2798064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past scans by date</a:t>
            </a:r>
            <a:endParaRPr lang="en-US" sz="1000" dirty="0"/>
          </a:p>
        </p:txBody>
      </p:sp>
      <p:sp>
        <p:nvSpPr>
          <p:cNvPr id="39" name="mm_fields chip"/>
          <p:cNvSpPr/>
          <p:nvPr/>
        </p:nvSpPr>
        <p:spPr>
          <a:xfrm>
            <a:off x="457200" y="3255264"/>
            <a:ext cx="125730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40" name="mm_fields text"/>
          <p:cNvSpPr txBox="1"/>
          <p:nvPr/>
        </p:nvSpPr>
        <p:spPr>
          <a:xfrm>
            <a:off x="548640" y="3255264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mm_fields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my crops and plots</a:t>
            </a:r>
            <a:endParaRPr lang="en-US" sz="1000" dirty="0"/>
          </a:p>
        </p:txBody>
      </p:sp>
      <p:sp>
        <p:nvSpPr>
          <p:cNvPr id="41" name="mm_alerts chip"/>
          <p:cNvSpPr/>
          <p:nvPr/>
        </p:nvSpPr>
        <p:spPr>
          <a:xfrm>
            <a:off x="1805940" y="3255264"/>
            <a:ext cx="125730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42" name="mm_alerts text"/>
          <p:cNvSpPr txBox="1"/>
          <p:nvPr/>
        </p:nvSpPr>
        <p:spPr>
          <a:xfrm>
            <a:off x="1897380" y="3255264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mm_alerts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outbreak warnings</a:t>
            </a:r>
            <a:endParaRPr lang="en-US" sz="1000" dirty="0"/>
          </a:p>
        </p:txBody>
      </p:sp>
      <p:sp>
        <p:nvSpPr>
          <p:cNvPr id="43" name="mm_dashboard chip"/>
          <p:cNvSpPr/>
          <p:nvPr/>
        </p:nvSpPr>
        <p:spPr>
          <a:xfrm>
            <a:off x="457200" y="3712464"/>
            <a:ext cx="125730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44" name="mm_dashboard text"/>
          <p:cNvSpPr txBox="1"/>
          <p:nvPr/>
        </p:nvSpPr>
        <p:spPr>
          <a:xfrm>
            <a:off x="548640" y="3712464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field health numbers</a:t>
            </a:r>
            <a:endParaRPr lang="en-US" sz="1000" dirty="0"/>
          </a:p>
        </p:txBody>
      </p:sp>
      <p:sp>
        <p:nvSpPr>
          <p:cNvPr id="45" name="mm_search chip"/>
          <p:cNvSpPr/>
          <p:nvPr/>
        </p:nvSpPr>
        <p:spPr>
          <a:xfrm>
            <a:off x="1805940" y="3712464"/>
            <a:ext cx="125730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46" name="mm_search text"/>
          <p:cNvSpPr txBox="1"/>
          <p:nvPr/>
        </p:nvSpPr>
        <p:spPr>
          <a:xfrm>
            <a:off x="1897380" y="3712464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crops, diseases, pests</a:t>
            </a:r>
            <a:endParaRPr lang="en-US" sz="1000" dirty="0"/>
          </a:p>
        </p:txBody>
      </p:sp>
      <p:sp>
        <p:nvSpPr>
          <p:cNvPr id="47" name="mm_settings chip"/>
          <p:cNvSpPr/>
          <p:nvPr/>
        </p:nvSpPr>
        <p:spPr>
          <a:xfrm>
            <a:off x="457200" y="4169664"/>
            <a:ext cx="125730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48" name="mm_settings text"/>
          <p:cNvSpPr txBox="1"/>
          <p:nvPr/>
        </p:nvSpPr>
        <p:spPr>
          <a:xfrm>
            <a:off x="548640" y="4169664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mm_settings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theme, model, about</a:t>
            </a:r>
            <a:endParaRPr lang="en-US" sz="1000" dirty="0"/>
          </a:p>
        </p:txBody>
      </p:sp>
      <p:sp>
        <p:nvSpPr>
          <p:cNvPr id="49" name="mm_data chip"/>
          <p:cNvSpPr/>
          <p:nvPr/>
        </p:nvSpPr>
        <p:spPr>
          <a:xfrm>
            <a:off x="1805940" y="4169664"/>
            <a:ext cx="125730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50" name="mm_data text"/>
          <p:cNvSpPr txBox="1"/>
          <p:nvPr/>
        </p:nvSpPr>
        <p:spPr>
          <a:xfrm>
            <a:off x="1897380" y="4169664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Store, photo cache</a:t>
            </a:r>
            <a:endParaRPr lang="en-US" sz="1000" dirty="0"/>
          </a:p>
        </p:txBody>
      </p:sp>
      <p:sp>
        <p:nvSpPr>
          <p:cNvPr id="51" name="ScanStore chip"/>
          <p:cNvSpPr/>
          <p:nvPr/>
        </p:nvSpPr>
        <p:spPr>
          <a:xfrm>
            <a:off x="3200400" y="18836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52" name="ScanStore text"/>
          <p:cNvSpPr txBox="1"/>
          <p:nvPr/>
        </p:nvSpPr>
        <p:spPr>
          <a:xfrm>
            <a:off x="3291840" y="18836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save and list scans</a:t>
            </a:r>
            <a:endParaRPr lang="en-US" sz="1000" dirty="0"/>
          </a:p>
        </p:txBody>
      </p:sp>
      <p:sp>
        <p:nvSpPr>
          <p:cNvPr id="53" name="DiagnosisStore chip"/>
          <p:cNvSpPr/>
          <p:nvPr/>
        </p:nvSpPr>
        <p:spPr>
          <a:xfrm>
            <a:off x="3200400" y="23408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54" name="DiagnosisStore text"/>
          <p:cNvSpPr txBox="1"/>
          <p:nvPr/>
        </p:nvSpPr>
        <p:spPr>
          <a:xfrm>
            <a:off x="3291840" y="23408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results, treatments</a:t>
            </a:r>
            <a:endParaRPr lang="en-US" sz="1000" dirty="0"/>
          </a:p>
        </p:txBody>
      </p:sp>
      <p:sp>
        <p:nvSpPr>
          <p:cNvPr id="55" name="CropStore chip"/>
          <p:cNvSpPr/>
          <p:nvPr/>
        </p:nvSpPr>
        <p:spPr>
          <a:xfrm>
            <a:off x="3200400" y="27980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56" name="CropStore text"/>
          <p:cNvSpPr txBox="1"/>
          <p:nvPr/>
        </p:nvSpPr>
        <p:spPr>
          <a:xfrm>
            <a:off x="3291840" y="27980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crops and fields</a:t>
            </a:r>
            <a:endParaRPr lang="en-US" sz="1000" dirty="0"/>
          </a:p>
        </p:txBody>
      </p:sp>
      <p:sp>
        <p:nvSpPr>
          <p:cNvPr id="57" name="AlertStore chip"/>
          <p:cNvSpPr/>
          <p:nvPr/>
        </p:nvSpPr>
        <p:spPr>
          <a:xfrm>
            <a:off x="3200400" y="32552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58" name="AlertStore text"/>
          <p:cNvSpPr txBox="1"/>
          <p:nvPr/>
        </p:nvSpPr>
        <p:spPr>
          <a:xfrm>
            <a:off x="3291840" y="32552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warnings</a:t>
            </a:r>
            <a:endParaRPr lang="en-US" sz="1000" dirty="0"/>
          </a:p>
        </p:txBody>
      </p:sp>
      <p:sp>
        <p:nvSpPr>
          <p:cNvPr id="59" name="Changes, Services chip"/>
          <p:cNvSpPr/>
          <p:nvPr/>
        </p:nvSpPr>
        <p:spPr>
          <a:xfrm>
            <a:off x="3200400" y="37124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60" name="Changes, Services text"/>
          <p:cNvSpPr txBox="1"/>
          <p:nvPr/>
        </p:nvSpPr>
        <p:spPr>
          <a:xfrm>
            <a:off x="3291840" y="37124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Changes, Services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events, plain shapes</a:t>
            </a:r>
            <a:endParaRPr lang="en-US" sz="1000" dirty="0"/>
          </a:p>
        </p:txBody>
      </p:sp>
      <p:sp>
        <p:nvSpPr>
          <p:cNvPr id="61" name="Planned note"/>
          <p:cNvSpPr txBox="1"/>
          <p:nvPr/>
        </p:nvSpPr>
        <p:spPr>
          <a:xfrm>
            <a:off x="3200400" y="416966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Dashed chips are planned.</a:t>
            </a:r>
            <a:endParaRPr lang="en-US" sz="1000" dirty="0"/>
          </a:p>
        </p:txBody>
      </p:sp>
      <p:sp>
        <p:nvSpPr>
          <p:cNvPr id="62" name="app_db chip"/>
          <p:cNvSpPr/>
          <p:nvPr/>
        </p:nvSpPr>
        <p:spPr>
          <a:xfrm>
            <a:off x="5074920" y="18836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63" name="app_db text"/>
          <p:cNvSpPr txBox="1"/>
          <p:nvPr/>
        </p:nvSpPr>
        <p:spPr>
          <a:xfrm>
            <a:off x="5166360" y="18836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Room*Store classes</a:t>
            </a:r>
            <a:endParaRPr lang="en-US" sz="1000" dirty="0"/>
          </a:p>
        </p:txBody>
      </p:sp>
      <p:sp>
        <p:nvSpPr>
          <p:cNvPr id="64" name="app_rules chip"/>
          <p:cNvSpPr/>
          <p:nvPr/>
        </p:nvSpPr>
        <p:spPr>
          <a:xfrm>
            <a:off x="5074920" y="23408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65" name="app_rules text"/>
          <p:cNvSpPr txBox="1"/>
          <p:nvPr/>
        </p:nvSpPr>
        <p:spPr>
          <a:xfrm>
            <a:off x="5166360" y="23408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app_rules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DiagnosisRules, LeafPictures</a:t>
            </a:r>
            <a:endParaRPr lang="en-US" sz="1000" dirty="0"/>
          </a:p>
        </p:txBody>
      </p:sp>
      <p:sp>
        <p:nvSpPr>
          <p:cNvPr id="66" name="wiring chip"/>
          <p:cNvSpPr/>
          <p:nvPr/>
        </p:nvSpPr>
        <p:spPr>
          <a:xfrm>
            <a:off x="5074920" y="27980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67" name="wiring text"/>
          <p:cNvSpPr txBox="1"/>
          <p:nvPr/>
        </p:nvSpPr>
        <p:spPr>
          <a:xfrm>
            <a:off x="5166360" y="27980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DevPlantApplication</a:t>
            </a:r>
            <a:endParaRPr lang="en-US" sz="1000" dirty="0"/>
          </a:p>
        </p:txBody>
      </p:sp>
      <p:sp>
        <p:nvSpPr>
          <p:cNvPr id="68" name="app_http chip"/>
          <p:cNvSpPr/>
          <p:nvPr/>
        </p:nvSpPr>
        <p:spPr>
          <a:xfrm>
            <a:off x="5074920" y="32552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2700">
            <a:solidFill>
              <a:srgbClr val="D6CFC6"/>
            </a:solidFill>
            <a:prstDash val="dash"/>
          </a:ln>
        </p:spPr>
      </p:sp>
      <p:sp>
        <p:nvSpPr>
          <p:cNvPr id="69" name="app_http text"/>
          <p:cNvSpPr txBox="1"/>
          <p:nvPr/>
        </p:nvSpPr>
        <p:spPr>
          <a:xfrm>
            <a:off x="5166360" y="32552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9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app_http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39A90"/>
                </a:solidFill>
              </a:rPr>
              <a:t>planned: sync, experts</a:t>
            </a:r>
            <a:endParaRPr lang="en-US" sz="1000" dirty="0"/>
          </a:p>
        </p:txBody>
      </p:sp>
      <p:sp>
        <p:nvSpPr>
          <p:cNvPr id="70" name="app_security chip"/>
          <p:cNvSpPr/>
          <p:nvPr/>
        </p:nvSpPr>
        <p:spPr>
          <a:xfrm>
            <a:off x="5074920" y="37124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2700">
            <a:solidFill>
              <a:srgbClr val="D6CFC6"/>
            </a:solidFill>
            <a:prstDash val="dash"/>
          </a:ln>
        </p:spPr>
      </p:sp>
      <p:sp>
        <p:nvSpPr>
          <p:cNvPr id="71" name="app_security text"/>
          <p:cNvSpPr txBox="1"/>
          <p:nvPr/>
        </p:nvSpPr>
        <p:spPr>
          <a:xfrm>
            <a:off x="5166360" y="37124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9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app_security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39A90"/>
                </a:solidFill>
              </a:rPr>
              <a:t>planned: sign-in</a:t>
            </a:r>
            <a:endParaRPr lang="en-US" sz="1000" dirty="0"/>
          </a:p>
        </p:txBody>
      </p:sp>
      <p:sp>
        <p:nvSpPr>
          <p:cNvPr id="72" name="app_notify chip"/>
          <p:cNvSpPr/>
          <p:nvPr/>
        </p:nvSpPr>
        <p:spPr>
          <a:xfrm>
            <a:off x="5074920" y="41696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2700">
            <a:solidFill>
              <a:srgbClr val="D6CFC6"/>
            </a:solidFill>
            <a:prstDash val="dash"/>
          </a:ln>
        </p:spPr>
      </p:sp>
      <p:sp>
        <p:nvSpPr>
          <p:cNvPr id="73" name="app_notify text"/>
          <p:cNvSpPr txBox="1"/>
          <p:nvPr/>
        </p:nvSpPr>
        <p:spPr>
          <a:xfrm>
            <a:off x="5166360" y="41696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9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app_notify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39A90"/>
                </a:solidFill>
              </a:rPr>
              <a:t>planned: push alerts</a:t>
            </a:r>
            <a:endParaRPr lang="en-US" sz="1000" dirty="0"/>
          </a:p>
        </p:txBody>
      </p:sp>
      <p:sp>
        <p:nvSpPr>
          <p:cNvPr id="74" name="gm_db chip"/>
          <p:cNvSpPr/>
          <p:nvPr/>
        </p:nvSpPr>
        <p:spPr>
          <a:xfrm>
            <a:off x="6949440" y="18836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75" name="gm_db text"/>
          <p:cNvSpPr txBox="1"/>
          <p:nvPr/>
        </p:nvSpPr>
        <p:spPr>
          <a:xfrm>
            <a:off x="7040880" y="18836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gm_db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Room database, 8 tables</a:t>
            </a:r>
            <a:endParaRPr lang="en-US" sz="1000" dirty="0"/>
          </a:p>
        </p:txBody>
      </p:sp>
      <p:sp>
        <p:nvSpPr>
          <p:cNvPr id="76" name="gm_images chip"/>
          <p:cNvSpPr/>
          <p:nvPr/>
        </p:nvSpPr>
        <p:spPr>
          <a:xfrm>
            <a:off x="6949440" y="23408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77" name="gm_images text"/>
          <p:cNvSpPr txBox="1"/>
          <p:nvPr/>
        </p:nvSpPr>
        <p:spPr>
          <a:xfrm>
            <a:off x="7040880" y="23408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gm_images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leaf photo files</a:t>
            </a:r>
            <a:endParaRPr lang="en-US" sz="1000" dirty="0"/>
          </a:p>
        </p:txBody>
      </p:sp>
      <p:sp>
        <p:nvSpPr>
          <p:cNvPr id="78" name="gm_model chip"/>
          <p:cNvSpPr/>
          <p:nvPr/>
        </p:nvSpPr>
        <p:spPr>
          <a:xfrm>
            <a:off x="6949440" y="27980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79" name="gm_model text"/>
          <p:cNvSpPr txBox="1"/>
          <p:nvPr/>
        </p:nvSpPr>
        <p:spPr>
          <a:xfrm>
            <a:off x="7040880" y="27980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gm_model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on-device AI model</a:t>
            </a:r>
            <a:endParaRPr lang="en-US" sz="1000" dirty="0"/>
          </a:p>
        </p:txBody>
      </p:sp>
      <p:sp>
        <p:nvSpPr>
          <p:cNvPr id="80" name="gm_location chip"/>
          <p:cNvSpPr/>
          <p:nvPr/>
        </p:nvSpPr>
        <p:spPr>
          <a:xfrm>
            <a:off x="6949440" y="3255264"/>
            <a:ext cx="1737360" cy="402336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2700">
            <a:solidFill>
              <a:srgbClr val="D6CFC6"/>
            </a:solidFill>
            <a:prstDash val="dash"/>
          </a:ln>
        </p:spPr>
      </p:sp>
      <p:sp>
        <p:nvSpPr>
          <p:cNvPr id="81" name="gm_location text"/>
          <p:cNvSpPr txBox="1"/>
          <p:nvPr/>
        </p:nvSpPr>
        <p:spPr>
          <a:xfrm>
            <a:off x="7040880" y="32552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9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gm_location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39A90"/>
                </a:solidFill>
              </a:rPr>
              <a:t>planned: GPS for fields</a:t>
            </a:r>
            <a:endParaRPr lang="en-US" sz="1000" dirty="0"/>
          </a:p>
        </p:txBody>
      </p:sp>
      <p:sp>
        <p:nvSpPr>
          <p:cNvPr id="82" name="Tables note"/>
          <p:cNvSpPr txBox="1"/>
          <p:nvPr/>
        </p:nvSpPr>
        <p:spPr>
          <a:xfrm>
            <a:off x="6949440" y="3712464"/>
            <a:ext cx="173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Crop, Field, Scan, Diagnosis, Disease, Pest, Treatment, Alert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scan, from leaf to diagnosis</a:t>
            </a:r>
            <a:endParaRPr lang="en-US" sz="3600" dirty="0"/>
          </a:p>
        </p:txBody>
      </p:sp>
      <p:sp>
        <p:nvSpPr>
          <p:cNvPr id="3" name="step 1 circle"/>
          <p:cNvSpPr/>
          <p:nvPr/>
        </p:nvSpPr>
        <p:spPr>
          <a:xfrm>
            <a:off x="457200" y="1143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45720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arrow"/>
          <p:cNvSpPr/>
          <p:nvPr/>
        </p:nvSpPr>
        <p:spPr>
          <a:xfrm>
            <a:off x="969264" y="1353312"/>
            <a:ext cx="786384" cy="0"/>
          </a:xfrm>
          <a:prstGeom prst="line">
            <a:avLst/>
          </a:prstGeom>
          <a:noFill/>
          <a:ln w="19050">
            <a:solidFill>
              <a:srgbClr val="D6CFC6"/>
            </a:solidFill>
            <a:prstDash val="solid"/>
            <a:tailEnd type="triangle"/>
          </a:ln>
        </p:spPr>
      </p:sp>
      <p:sp>
        <p:nvSpPr>
          <p:cNvPr id="6" name="step 1 name"/>
          <p:cNvSpPr txBox="1"/>
          <p:nvPr/>
        </p:nvSpPr>
        <p:spPr>
          <a:xfrm>
            <a:off x="457200" y="16916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Snap leaf</a:t>
            </a:r>
            <a:endParaRPr lang="en-US" sz="1400" dirty="0"/>
          </a:p>
        </p:txBody>
      </p:sp>
      <p:sp>
        <p:nvSpPr>
          <p:cNvPr id="7" name="step 1 module"/>
          <p:cNvSpPr txBox="1"/>
          <p:nvPr/>
        </p:nvSpPr>
        <p:spPr>
          <a:xfrm>
            <a:off x="457200" y="1965960"/>
            <a:ext cx="1371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mm_scan</a:t>
            </a:r>
            <a:endParaRPr lang="en-US" sz="1000" dirty="0"/>
          </a:p>
        </p:txBody>
      </p:sp>
      <p:sp>
        <p:nvSpPr>
          <p:cNvPr id="8" name="step 1 desc"/>
          <p:cNvSpPr txBox="1"/>
          <p:nvPr/>
        </p:nvSpPr>
        <p:spPr>
          <a:xfrm>
            <a:off x="457200" y="224028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Camera frames one leaf. The photo stays on the phone.</a:t>
            </a:r>
            <a:endParaRPr lang="en-US" sz="1100" dirty="0"/>
          </a:p>
        </p:txBody>
      </p:sp>
      <p:sp>
        <p:nvSpPr>
          <p:cNvPr id="9" name="step 2 circle"/>
          <p:cNvSpPr/>
          <p:nvPr/>
        </p:nvSpPr>
        <p:spPr>
          <a:xfrm>
            <a:off x="1847088" y="1143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2 number"/>
          <p:cNvSpPr txBox="1"/>
          <p:nvPr/>
        </p:nvSpPr>
        <p:spPr>
          <a:xfrm>
            <a:off x="1847088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 2 arrow"/>
          <p:cNvSpPr/>
          <p:nvPr/>
        </p:nvSpPr>
        <p:spPr>
          <a:xfrm>
            <a:off x="2359152" y="1353312"/>
            <a:ext cx="786384" cy="0"/>
          </a:xfrm>
          <a:prstGeom prst="line">
            <a:avLst/>
          </a:prstGeom>
          <a:noFill/>
          <a:ln w="19050">
            <a:solidFill>
              <a:srgbClr val="D6CFC6"/>
            </a:solidFill>
            <a:prstDash val="solid"/>
            <a:tailEnd type="triangle"/>
          </a:ln>
        </p:spPr>
      </p:sp>
      <p:sp>
        <p:nvSpPr>
          <p:cNvPr id="12" name="step 2 name"/>
          <p:cNvSpPr txBox="1"/>
          <p:nvPr/>
        </p:nvSpPr>
        <p:spPr>
          <a:xfrm>
            <a:off x="1847088" y="16916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Store.scan</a:t>
            </a:r>
            <a:endParaRPr lang="en-US" sz="1400" dirty="0"/>
          </a:p>
        </p:txBody>
      </p:sp>
      <p:sp>
        <p:nvSpPr>
          <p:cNvPr id="13" name="step 2 module"/>
          <p:cNvSpPr txBox="1"/>
          <p:nvPr/>
        </p:nvSpPr>
        <p:spPr>
          <a:xfrm>
            <a:off x="1847088" y="1965960"/>
            <a:ext cx="1371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mm_data</a:t>
            </a:r>
            <a:endParaRPr lang="en-US" sz="1000" dirty="0"/>
          </a:p>
        </p:txBody>
      </p:sp>
      <p:sp>
        <p:nvSpPr>
          <p:cNvPr id="14" name="step 2 desc"/>
          <p:cNvSpPr txBox="1"/>
          <p:nvPr/>
        </p:nvSpPr>
        <p:spPr>
          <a:xfrm>
            <a:off x="1847088" y="224028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Forwards the photo to ScanStore, the interface.</a:t>
            </a:r>
            <a:endParaRPr lang="en-US" sz="1100" dirty="0"/>
          </a:p>
        </p:txBody>
      </p:sp>
      <p:sp>
        <p:nvSpPr>
          <p:cNvPr id="15" name="step 3 circle"/>
          <p:cNvSpPr/>
          <p:nvPr/>
        </p:nvSpPr>
        <p:spPr>
          <a:xfrm>
            <a:off x="3236976" y="1143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3 number"/>
          <p:cNvSpPr txBox="1"/>
          <p:nvPr/>
        </p:nvSpPr>
        <p:spPr>
          <a:xfrm>
            <a:off x="3236976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tep 3 arrow"/>
          <p:cNvSpPr/>
          <p:nvPr/>
        </p:nvSpPr>
        <p:spPr>
          <a:xfrm>
            <a:off x="3749040" y="1353312"/>
            <a:ext cx="786384" cy="0"/>
          </a:xfrm>
          <a:prstGeom prst="line">
            <a:avLst/>
          </a:prstGeom>
          <a:noFill/>
          <a:ln w="19050">
            <a:solidFill>
              <a:srgbClr val="D6CFC6"/>
            </a:solidFill>
            <a:prstDash val="solid"/>
            <a:tailEnd type="triangle"/>
          </a:ln>
        </p:spPr>
      </p:sp>
      <p:sp>
        <p:nvSpPr>
          <p:cNvPr id="18" name="step 3 name"/>
          <p:cNvSpPr txBox="1"/>
          <p:nvPr/>
        </p:nvSpPr>
        <p:spPr>
          <a:xfrm>
            <a:off x="3236976" y="16916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LeafPictures</a:t>
            </a:r>
            <a:endParaRPr lang="en-US" sz="1400" dirty="0"/>
          </a:p>
        </p:txBody>
      </p:sp>
      <p:sp>
        <p:nvSpPr>
          <p:cNvPr id="19" name="step 3 module"/>
          <p:cNvSpPr txBox="1"/>
          <p:nvPr/>
        </p:nvSpPr>
        <p:spPr>
          <a:xfrm>
            <a:off x="3236976" y="1965960"/>
            <a:ext cx="1371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app_rules</a:t>
            </a:r>
            <a:endParaRPr lang="en-US" sz="1000" dirty="0"/>
          </a:p>
        </p:txBody>
      </p:sp>
      <p:sp>
        <p:nvSpPr>
          <p:cNvPr id="20" name="step 3 desc"/>
          <p:cNvSpPr txBox="1"/>
          <p:nvPr/>
        </p:nvSpPr>
        <p:spPr>
          <a:xfrm>
            <a:off x="3236976" y="224028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Turns it upright, crops square, resizes for the model.</a:t>
            </a:r>
            <a:endParaRPr lang="en-US" sz="1100" dirty="0"/>
          </a:p>
        </p:txBody>
      </p:sp>
      <p:sp>
        <p:nvSpPr>
          <p:cNvPr id="21" name="step 4 circle"/>
          <p:cNvSpPr/>
          <p:nvPr/>
        </p:nvSpPr>
        <p:spPr>
          <a:xfrm>
            <a:off x="4626864" y="114300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step 4 number"/>
          <p:cNvSpPr txBox="1"/>
          <p:nvPr/>
        </p:nvSpPr>
        <p:spPr>
          <a:xfrm>
            <a:off x="4626864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step 4 arrow"/>
          <p:cNvSpPr/>
          <p:nvPr/>
        </p:nvSpPr>
        <p:spPr>
          <a:xfrm>
            <a:off x="5138928" y="1353312"/>
            <a:ext cx="786384" cy="0"/>
          </a:xfrm>
          <a:prstGeom prst="line">
            <a:avLst/>
          </a:prstGeom>
          <a:noFill/>
          <a:ln w="19050">
            <a:solidFill>
              <a:srgbClr val="D6CFC6"/>
            </a:solidFill>
            <a:prstDash val="solid"/>
            <a:tailEnd type="triangle"/>
          </a:ln>
        </p:spPr>
      </p:sp>
      <p:sp>
        <p:nvSpPr>
          <p:cNvPr id="24" name="step 4 name"/>
          <p:cNvSpPr txBox="1"/>
          <p:nvPr/>
        </p:nvSpPr>
        <p:spPr>
          <a:xfrm>
            <a:off x="4626864" y="16916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gm_model</a:t>
            </a:r>
            <a:endParaRPr lang="en-US" sz="1400" dirty="0"/>
          </a:p>
        </p:txBody>
      </p:sp>
      <p:sp>
        <p:nvSpPr>
          <p:cNvPr id="25" name="step 4 module"/>
          <p:cNvSpPr txBox="1"/>
          <p:nvPr/>
        </p:nvSpPr>
        <p:spPr>
          <a:xfrm>
            <a:off x="4626864" y="1965960"/>
            <a:ext cx="1371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gates</a:t>
            </a:r>
            <a:endParaRPr lang="en-US" sz="1000" dirty="0"/>
          </a:p>
        </p:txBody>
      </p:sp>
      <p:sp>
        <p:nvSpPr>
          <p:cNvPr id="26" name="step 4 desc"/>
          <p:cNvSpPr txBox="1"/>
          <p:nvPr/>
        </p:nvSpPr>
        <p:spPr>
          <a:xfrm>
            <a:off x="4626864" y="224028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On-device model returns top labels with confidence.</a:t>
            </a:r>
            <a:endParaRPr lang="en-US" sz="1100" dirty="0"/>
          </a:p>
        </p:txBody>
      </p:sp>
      <p:sp>
        <p:nvSpPr>
          <p:cNvPr id="27" name="step 5 circle"/>
          <p:cNvSpPr/>
          <p:nvPr/>
        </p:nvSpPr>
        <p:spPr>
          <a:xfrm>
            <a:off x="6016752" y="1143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step 5 number"/>
          <p:cNvSpPr txBox="1"/>
          <p:nvPr/>
        </p:nvSpPr>
        <p:spPr>
          <a:xfrm>
            <a:off x="6016752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step 5 arrow"/>
          <p:cNvSpPr/>
          <p:nvPr/>
        </p:nvSpPr>
        <p:spPr>
          <a:xfrm>
            <a:off x="6528816" y="1353312"/>
            <a:ext cx="786384" cy="0"/>
          </a:xfrm>
          <a:prstGeom prst="line">
            <a:avLst/>
          </a:prstGeom>
          <a:noFill/>
          <a:ln w="19050">
            <a:solidFill>
              <a:srgbClr val="D6CFC6"/>
            </a:solidFill>
            <a:prstDash val="solid"/>
            <a:tailEnd type="triangle"/>
          </a:ln>
        </p:spPr>
      </p:sp>
      <p:sp>
        <p:nvSpPr>
          <p:cNvPr id="30" name="step 5 name"/>
          <p:cNvSpPr txBox="1"/>
          <p:nvPr/>
        </p:nvSpPr>
        <p:spPr>
          <a:xfrm>
            <a:off x="6016752" y="16916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DiagnosisRules</a:t>
            </a:r>
            <a:endParaRPr lang="en-US" sz="1400" dirty="0"/>
          </a:p>
        </p:txBody>
      </p:sp>
      <p:sp>
        <p:nvSpPr>
          <p:cNvPr id="31" name="step 5 module"/>
          <p:cNvSpPr txBox="1"/>
          <p:nvPr/>
        </p:nvSpPr>
        <p:spPr>
          <a:xfrm>
            <a:off x="6016752" y="1965960"/>
            <a:ext cx="1371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app_rules</a:t>
            </a:r>
            <a:endParaRPr lang="en-US" sz="1000" dirty="0"/>
          </a:p>
        </p:txBody>
      </p:sp>
      <p:sp>
        <p:nvSpPr>
          <p:cNvPr id="32" name="step 5 desc"/>
          <p:cNvSpPr txBox="1"/>
          <p:nvPr/>
        </p:nvSpPr>
        <p:spPr>
          <a:xfrm>
            <a:off x="6016752" y="224028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Picks pest or disease, severity and treatment. Low confidence asks for a retake.</a:t>
            </a:r>
            <a:endParaRPr lang="en-US" sz="1100" dirty="0"/>
          </a:p>
        </p:txBody>
      </p:sp>
      <p:sp>
        <p:nvSpPr>
          <p:cNvPr id="33" name="step 6 circle"/>
          <p:cNvSpPr/>
          <p:nvPr/>
        </p:nvSpPr>
        <p:spPr>
          <a:xfrm>
            <a:off x="7406640" y="11430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step 6 number"/>
          <p:cNvSpPr txBox="1"/>
          <p:nvPr/>
        </p:nvSpPr>
        <p:spPr>
          <a:xfrm>
            <a:off x="740664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5" name="step 6 name"/>
          <p:cNvSpPr txBox="1"/>
          <p:nvPr/>
        </p:nvSpPr>
        <p:spPr>
          <a:xfrm>
            <a:off x="7406640" y="16916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Save and show</a:t>
            </a:r>
            <a:endParaRPr lang="en-US" sz="1400" dirty="0"/>
          </a:p>
        </p:txBody>
      </p:sp>
      <p:sp>
        <p:nvSpPr>
          <p:cNvPr id="36" name="step 6 module"/>
          <p:cNvSpPr txBox="1"/>
          <p:nvPr/>
        </p:nvSpPr>
        <p:spPr>
          <a:xfrm>
            <a:off x="7406640" y="1965960"/>
            <a:ext cx="1371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app_db → gm_db</a:t>
            </a:r>
            <a:endParaRPr lang="en-US" sz="900" dirty="0"/>
          </a:p>
        </p:txBody>
      </p:sp>
      <p:sp>
        <p:nvSpPr>
          <p:cNvPr id="37" name="step 6 desc"/>
          <p:cNvSpPr txBox="1"/>
          <p:nvPr/>
        </p:nvSpPr>
        <p:spPr>
          <a:xfrm>
            <a:off x="7406640" y="224028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Scan and Diagnosis rows written. Changes refreshes History and Alerts.</a:t>
            </a:r>
            <a:endParaRPr lang="en-US" sz="1100" dirty="0"/>
          </a:p>
        </p:txBody>
      </p:sp>
      <p:sp>
        <p:nvSpPr>
          <p:cNvPr id="38" name="Model card"/>
          <p:cNvSpPr/>
          <p:nvPr/>
        </p:nvSpPr>
        <p:spPr>
          <a:xfrm>
            <a:off x="457200" y="3200400"/>
            <a:ext cx="39776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39" name="Model circle"/>
          <p:cNvSpPr/>
          <p:nvPr/>
        </p:nvSpPr>
        <p:spPr>
          <a:xfrm>
            <a:off x="640080" y="33649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56432"/>
            <a:ext cx="182880" cy="182880"/>
          </a:xfrm>
          <a:prstGeom prst="rect">
            <a:avLst/>
          </a:prstGeom>
        </p:spPr>
      </p:pic>
      <p:sp>
        <p:nvSpPr>
          <p:cNvPr id="41" name="Model heading"/>
          <p:cNvSpPr txBox="1"/>
          <p:nvPr/>
        </p:nvSpPr>
        <p:spPr>
          <a:xfrm>
            <a:off x="1115568" y="3364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Where the model is chosen</a:t>
            </a:r>
            <a:endParaRPr lang="en-US" sz="1500" dirty="0"/>
          </a:p>
        </p:txBody>
      </p:sp>
      <p:sp>
        <p:nvSpPr>
          <p:cNvPr id="42" name="Code block"/>
          <p:cNvSpPr/>
          <p:nvPr/>
        </p:nvSpPr>
        <p:spPr>
          <a:xfrm>
            <a:off x="640080" y="3822192"/>
            <a:ext cx="3611880" cy="292608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43" name="Code"/>
          <p:cNvSpPr txBox="1"/>
          <p:nvPr/>
        </p:nvSpPr>
        <p:spPr>
          <a:xfrm>
            <a:off x="749808" y="38221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TfliteModel.open(ctx, </a:t>
            </a:r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"devplant_v1"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44" name="Model caption"/>
          <p:cNvSpPr txBox="1"/>
          <p:nvPr/>
        </p:nvSpPr>
        <p:spPr>
          <a:xfrm>
            <a:off x="640080" y="42062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One line in AppServices. A better model is a new file in gm_model; mixes does not change.</a:t>
            </a:r>
            <a:endParaRPr lang="en-US" sz="1100" dirty="0"/>
          </a:p>
        </p:txBody>
      </p:sp>
      <p:sp>
        <p:nvSpPr>
          <p:cNvPr id="45" name="Offline card"/>
          <p:cNvSpPr/>
          <p:nvPr/>
        </p:nvSpPr>
        <p:spPr>
          <a:xfrm>
            <a:off x="4709160" y="3200400"/>
            <a:ext cx="397764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</p:sp>
      <p:sp>
        <p:nvSpPr>
          <p:cNvPr id="46" name="Offline circle"/>
          <p:cNvSpPr/>
          <p:nvPr/>
        </p:nvSpPr>
        <p:spPr>
          <a:xfrm>
            <a:off x="4892040" y="33649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7" name="Offlin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456432"/>
            <a:ext cx="182880" cy="182880"/>
          </a:xfrm>
          <a:prstGeom prst="rect">
            <a:avLst/>
          </a:prstGeom>
        </p:spPr>
      </p:pic>
      <p:sp>
        <p:nvSpPr>
          <p:cNvPr id="48" name="Offline heading"/>
          <p:cNvSpPr txBox="1"/>
          <p:nvPr/>
        </p:nvSpPr>
        <p:spPr>
          <a:xfrm>
            <a:off x="5367528" y="3364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Works in the field, offline</a:t>
            </a:r>
            <a:endParaRPr lang="en-US" sz="1500" dirty="0"/>
          </a:p>
        </p:txBody>
      </p:sp>
      <p:sp>
        <p:nvSpPr>
          <p:cNvPr id="49" name="Offline body"/>
          <p:cNvSpPr txBox="1"/>
          <p:nvPr/>
        </p:nvSpPr>
        <p:spPr>
          <a:xfrm>
            <a:off x="4892040" y="38221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Everything above runs on the phone with no signal. Planned: app_http sends unsure scans to an expert and pulls regional outbreak alerts when online.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vPlant Bun">
  <a:themeElements>
    <a:clrScheme name="DevPlant Bun">
      <a:dk1>
        <a:srgbClr val="1A1612"/>
      </a:dk1>
      <a:lt1>
        <a:srgbClr val="FFFFFF"/>
      </a:lt1>
      <a:dk2>
        <a:srgbClr val="5C534B"/>
      </a:dk2>
      <a:lt2>
        <a:srgbClr val="F4F1EC"/>
      </a:lt2>
      <a:accent1>
        <a:srgbClr val="F472B6"/>
      </a:accent1>
      <a:accent2>
        <a:srgbClr val="FBF0DF"/>
      </a:accent2>
      <a:accent3>
        <a:srgbClr val="2B2520"/>
      </a:accent3>
      <a:accent4>
        <a:srgbClr val="4ADE80"/>
      </a:accent4>
      <a:accent5>
        <a:srgbClr val="D6CFC6"/>
      </a:accent5>
      <a:accent6>
        <a:srgbClr val="BE185D"/>
      </a:accent6>
      <a:hlink>
        <a:srgbClr val="BE185D"/>
      </a:hlink>
      <a:folHlink>
        <a:srgbClr val="9D174D"/>
      </a:folHlink>
    </a:clrScheme>
    <a:fontScheme name="DevPlant Bu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DevPlant: app architecture</dc:title>
  <dc:subject>PptxGenJS Presentation</dc:subject>
  <dc:creator>PptxGenJS</dc:creator>
  <cp:lastModifiedBy>PptxGenJS</cp:lastModifiedBy>
  <cp:revision>1</cp:revision>
  <dcterms:created xsi:type="dcterms:W3CDTF">2026-10-23T06:37:03Z</dcterms:created>
  <dcterms:modified xsi:type="dcterms:W3CDTF">2026-10-23T06:37:03Z</dcterms:modified>
</cp:coreProperties>
</file>